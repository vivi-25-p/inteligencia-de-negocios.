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59" r:id="rId4"/>
    <p:sldId id="258" r:id="rId5"/>
    <p:sldId id="286" r:id="rId6"/>
    <p:sldId id="271" r:id="rId7"/>
    <p:sldId id="270" r:id="rId8"/>
    <p:sldId id="272" r:id="rId9"/>
    <p:sldId id="273" r:id="rId10"/>
    <p:sldId id="274" r:id="rId11"/>
    <p:sldId id="276" r:id="rId12"/>
    <p:sldId id="280" r:id="rId13"/>
    <p:sldId id="279" r:id="rId14"/>
    <p:sldId id="278" r:id="rId15"/>
    <p:sldId id="281" r:id="rId16"/>
    <p:sldId id="277" r:id="rId17"/>
    <p:sldId id="275" r:id="rId18"/>
    <p:sldId id="282" r:id="rId19"/>
    <p:sldId id="283" r:id="rId20"/>
    <p:sldId id="285" r:id="rId21"/>
    <p:sldId id="284" r:id="rId22"/>
    <p:sldId id="269" r:id="rId23"/>
  </p:sldIdLst>
  <p:sldSz cx="12192000" cy="7939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Estilo medio 3 - 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5" autoAdjust="0"/>
    <p:restoredTop sz="94674"/>
  </p:normalViewPr>
  <p:slideViewPr>
    <p:cSldViewPr snapToGrid="0">
      <p:cViewPr varScale="1">
        <p:scale>
          <a:sx n="80" d="100"/>
          <a:sy n="80" d="100"/>
        </p:scale>
        <p:origin x="101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Emiro Mosquera Sánchez" userId="f63cff7c-0b9d-4872-96c1-339ed56afcec" providerId="ADAL" clId="{F6D61DD9-BA0D-4FD9-AA93-6B3D4C498362}"/>
    <pc:docChg chg="undo custSel addSld modSld">
      <pc:chgData name="Luis Emiro Mosquera Sánchez" userId="f63cff7c-0b9d-4872-96c1-339ed56afcec" providerId="ADAL" clId="{F6D61DD9-BA0D-4FD9-AA93-6B3D4C498362}" dt="2026-10-16T21:10:37.118" v="46" actId="20577"/>
      <pc:docMkLst>
        <pc:docMk/>
      </pc:docMkLst>
      <pc:sldChg chg="delSp mod delAnim modAnim">
        <pc:chgData name="Luis Emiro Mosquera Sánchez" userId="f63cff7c-0b9d-4872-96c1-339ed56afcec" providerId="ADAL" clId="{F6D61DD9-BA0D-4FD9-AA93-6B3D4C498362}" dt="2026-10-16T19:16:07.573" v="2" actId="478"/>
        <pc:sldMkLst>
          <pc:docMk/>
          <pc:sldMk cId="3364347861" sldId="258"/>
        </pc:sldMkLst>
        <pc:graphicFrameChg chg="del">
          <ac:chgData name="Luis Emiro Mosquera Sánchez" userId="f63cff7c-0b9d-4872-96c1-339ed56afcec" providerId="ADAL" clId="{F6D61DD9-BA0D-4FD9-AA93-6B3D4C498362}" dt="2026-10-16T19:16:07.573" v="2" actId="478"/>
          <ac:graphicFrameMkLst>
            <pc:docMk/>
            <pc:sldMk cId="3364347861" sldId="258"/>
            <ac:graphicFrameMk id="6" creationId="{ACB6B76F-1E37-45FC-8900-827118764E29}"/>
          </ac:graphicFrameMkLst>
        </pc:graphicFrameChg>
      </pc:sldChg>
      <pc:sldChg chg="modSp mod">
        <pc:chgData name="Luis Emiro Mosquera Sánchez" userId="f63cff7c-0b9d-4872-96c1-339ed56afcec" providerId="ADAL" clId="{F6D61DD9-BA0D-4FD9-AA93-6B3D4C498362}" dt="2026-10-16T21:10:37.118" v="46" actId="20577"/>
        <pc:sldMkLst>
          <pc:docMk/>
          <pc:sldMk cId="3943121265" sldId="272"/>
        </pc:sldMkLst>
        <pc:spChg chg="mod">
          <ac:chgData name="Luis Emiro Mosquera Sánchez" userId="f63cff7c-0b9d-4872-96c1-339ed56afcec" providerId="ADAL" clId="{F6D61DD9-BA0D-4FD9-AA93-6B3D4C498362}" dt="2026-10-16T21:10:37.118" v="46" actId="20577"/>
          <ac:spMkLst>
            <pc:docMk/>
            <pc:sldMk cId="3943121265" sldId="272"/>
            <ac:spMk id="4" creationId="{0BAF41AC-2E13-0548-859B-D649B9363A3F}"/>
          </ac:spMkLst>
        </pc:spChg>
      </pc:sldChg>
      <pc:sldChg chg="modSp mod">
        <pc:chgData name="Luis Emiro Mosquera Sánchez" userId="f63cff7c-0b9d-4872-96c1-339ed56afcec" providerId="ADAL" clId="{F6D61DD9-BA0D-4FD9-AA93-6B3D4C498362}" dt="2026-10-16T21:01:35.892" v="19" actId="1076"/>
        <pc:sldMkLst>
          <pc:docMk/>
          <pc:sldMk cId="879217582" sldId="273"/>
        </pc:sldMkLst>
        <pc:picChg chg="mod">
          <ac:chgData name="Luis Emiro Mosquera Sánchez" userId="f63cff7c-0b9d-4872-96c1-339ed56afcec" providerId="ADAL" clId="{F6D61DD9-BA0D-4FD9-AA93-6B3D4C498362}" dt="2026-10-16T21:01:35.892" v="19" actId="1076"/>
          <ac:picMkLst>
            <pc:docMk/>
            <pc:sldMk cId="879217582" sldId="273"/>
            <ac:picMk id="8" creationId="{D22B4111-7B24-48B2-8D7C-5C8F70EA6A65}"/>
          </ac:picMkLst>
        </pc:picChg>
      </pc:sldChg>
      <pc:sldChg chg="addSp modSp add mod modAnim">
        <pc:chgData name="Luis Emiro Mosquera Sánchez" userId="f63cff7c-0b9d-4872-96c1-339ed56afcec" providerId="ADAL" clId="{F6D61DD9-BA0D-4FD9-AA93-6B3D4C498362}" dt="2026-10-16T19:17:00.738" v="17" actId="14100"/>
        <pc:sldMkLst>
          <pc:docMk/>
          <pc:sldMk cId="3842491024" sldId="286"/>
        </pc:sldMkLst>
        <pc:spChg chg="mod">
          <ac:chgData name="Luis Emiro Mosquera Sánchez" userId="f63cff7c-0b9d-4872-96c1-339ed56afcec" providerId="ADAL" clId="{F6D61DD9-BA0D-4FD9-AA93-6B3D4C498362}" dt="2026-10-16T19:16:30.407" v="13" actId="14100"/>
          <ac:spMkLst>
            <pc:docMk/>
            <pc:sldMk cId="3842491024" sldId="286"/>
            <ac:spMk id="4" creationId="{0BAF41AC-2E13-0548-859B-D649B9363A3F}"/>
          </ac:spMkLst>
        </pc:spChg>
        <pc:picChg chg="add mod">
          <ac:chgData name="Luis Emiro Mosquera Sánchez" userId="f63cff7c-0b9d-4872-96c1-339ed56afcec" providerId="ADAL" clId="{F6D61DD9-BA0D-4FD9-AA93-6B3D4C498362}" dt="2026-10-16T19:17:00.738" v="17" actId="14100"/>
          <ac:picMkLst>
            <pc:docMk/>
            <pc:sldMk cId="3842491024" sldId="286"/>
            <ac:picMk id="6" creationId="{8DCB7751-7F39-42F3-A472-5211FF09F28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BC3DD61-BE3E-95E6-767C-1D318B57A18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A2486C6-015A-1991-9454-0CC75CBD5A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BF72BC-0C89-C547-AE4C-C26292946FEF}" type="datetimeFigureOut">
              <a:rPr lang="es-CO" smtClean="0"/>
              <a:t>16/10/2026</a:t>
            </a:fld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5AE1C08-AFC1-7E0C-3FF0-C55D63D8AD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8AADFE-4B2D-AD71-09E5-D197291D7E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FB97DE-7E83-6049-BA59-A8D6845ACEE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14866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131741-4ABB-4F56-91F9-028CAA8C8CF7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143000"/>
            <a:ext cx="47402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9147C-5FEE-493E-91A9-9E3C72A7DF1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2701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Una empresa puede almacenar millones de registros y, aun así, no saber qué está pasando. El valor de BI aparece cuando esos registros se convierten en respuestas para preguntas concretas.</a:t>
            </a:r>
            <a:br>
              <a:rPr lang="es-ES" dirty="0"/>
            </a:br>
            <a:br>
              <a:rPr lang="es-ES" dirty="0"/>
            </a:br>
            <a:r>
              <a:rPr lang="es-ES" dirty="0"/>
              <a:t>La clave está en partir de una pregunta de negocio, identificar qué datos se necesitan y analizarlos para respaldar una decisión.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9147C-5FEE-493E-91A9-9E3C72A7DF12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4452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Una empresa puede almacenar millones de registros y, aun así, no saber qué está pasando. El valor de BI aparece cuando esos registros se convierten en respuestas para preguntas concretas.</a:t>
            </a:r>
            <a:br>
              <a:rPr lang="es-ES" dirty="0"/>
            </a:br>
            <a:br>
              <a:rPr lang="es-ES" dirty="0"/>
            </a:br>
            <a:r>
              <a:rPr lang="es-ES" dirty="0"/>
              <a:t>La clave está en partir de una pregunta de negocio, identificar qué datos se necesitan y analizarlos para respaldar una decisión.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9147C-5FEE-493E-91A9-9E3C72A7DF12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13510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 complementa con evidencia, pero la calidad de la decisión sigue dependiendo de los datos, el análisis, el contexto y la capacidad de ejecución.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9147C-5FEE-493E-91A9-9E3C72A7DF12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6207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la práctica se superponen. Un proyecto de BI puede incorporar análisis estadístico o modelos predictivos; la diferencia está en el propósito, el alcance y las técnicas empleadas.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9147C-5FEE-493E-91A9-9E3C72A7DF12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81832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 información puede estar distribuida entre sistemas distintos. Por ejemplo, las ventas pueden estar en Oracle, mientras que la inversión publicitaria está en archivos CSV y los clientes en un CRM.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9147C-5FEE-493E-91A9-9E3C72A7DF12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2929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Los datos deben ser comparables. Puede ser necesario corregir fechas, unificar nombres de ciudades, eliminar duplicados y resolver registros incompletos.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9147C-5FEE-493E-91A9-9E3C72A7DF12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0577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Se establecen las relaciones entre los datos. Una tabla de ventas puede relacionarse con tablas de clientes, productos, fechas y canales.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9147C-5FEE-493E-91A9-9E3C72A7DF12}" type="slidenum">
              <a:rPr lang="es-CO" smtClean="0"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35484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Se construyen indicadores y gráficos para encontrar diferencias, tendencias y situaciones que requieren atención.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9147C-5FEE-493E-91A9-9E3C72A7DF12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85671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equipo directivo define una acción y posteriormente evalúa si produjo mejoras.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9147C-5FEE-493E-91A9-9E3C72A7DF12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59454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Una empresa puede almacenar millones de registros y, aun así, no saber qué está pasando. El valor de BI aparece cuando esos registros se convierten en respuestas para preguntas concretas.</a:t>
            </a:r>
            <a:br>
              <a:rPr lang="es-ES" dirty="0"/>
            </a:br>
            <a:br>
              <a:rPr lang="es-ES" dirty="0"/>
            </a:br>
            <a:r>
              <a:rPr lang="es-ES" dirty="0"/>
              <a:t>La clave está en partir de una pregunta de negocio, identificar qué datos se necesitan y analizarlos para respaldar una decisión.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9147C-5FEE-493E-91A9-9E3C72A7DF12}" type="slidenum">
              <a:rPr lang="es-CO" smtClean="0"/>
              <a:t>18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47961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Una empresa puede almacenar millones de registros y, aun así, no saber qué está pasando. El valor de BI aparece cuando esos registros se convierten en respuestas para preguntas concretas.</a:t>
            </a:r>
            <a:br>
              <a:rPr lang="es-ES" dirty="0"/>
            </a:br>
            <a:br>
              <a:rPr lang="es-ES" dirty="0"/>
            </a:br>
            <a:r>
              <a:rPr lang="es-ES" dirty="0"/>
              <a:t>La clave está en partir de una pregunta de negocio, identificar qué datos se necesitan y analizarlos para respaldar una decisión.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9147C-5FEE-493E-91A9-9E3C72A7DF12}" type="slidenum">
              <a:rPr lang="es-CO" smtClean="0"/>
              <a:t>19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61320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Una empresa puede almacenar millones de registros y, aun así, no saber qué está pasando. El valor de BI aparece cuando esos registros se convierten en respuestas para preguntas concretas.</a:t>
            </a:r>
            <a:br>
              <a:rPr lang="es-ES" dirty="0"/>
            </a:br>
            <a:br>
              <a:rPr lang="es-ES" dirty="0"/>
            </a:br>
            <a:r>
              <a:rPr lang="es-ES" dirty="0"/>
              <a:t>La clave está en partir de una pregunta de negocio, identificar qué datos se necesitan y analizarlos para respaldar una decisión.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9147C-5FEE-493E-91A9-9E3C72A7DF12}" type="slidenum">
              <a:rPr lang="es-CO" smtClean="0"/>
              <a:t>20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54428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Una empresa puede almacenar millones de registros y, aun así, no saber qué está pasando. El valor de BI aparece cuando esos registros se convierten en respuestas para preguntas concretas.</a:t>
            </a:r>
            <a:br>
              <a:rPr lang="es-ES" dirty="0"/>
            </a:br>
            <a:br>
              <a:rPr lang="es-ES" dirty="0"/>
            </a:br>
            <a:r>
              <a:rPr lang="es-ES" dirty="0"/>
              <a:t>La clave está en partir de una pregunta de negocio, identificar qué datos se necesitan y analizarlos para respaldar una decisión.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9147C-5FEE-493E-91A9-9E3C72A7DF12}" type="slidenum">
              <a:rPr lang="es-CO" smtClean="0"/>
              <a:t>21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802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299291"/>
            <a:ext cx="10363200" cy="2763979"/>
          </a:xfrm>
        </p:spPr>
        <p:txBody>
          <a:bodyPr anchor="b"/>
          <a:lstStyle>
            <a:lvl1pPr algn="ctr">
              <a:defRPr sz="6946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69859"/>
            <a:ext cx="9144000" cy="1916775"/>
          </a:xfrm>
        </p:spPr>
        <p:txBody>
          <a:bodyPr/>
          <a:lstStyle>
            <a:lvl1pPr marL="0" indent="0" algn="ctr">
              <a:buNone/>
              <a:defRPr sz="2778"/>
            </a:lvl1pPr>
            <a:lvl2pPr marL="529255" indent="0" algn="ctr">
              <a:buNone/>
              <a:defRPr sz="2315"/>
            </a:lvl2pPr>
            <a:lvl3pPr marL="1058509" indent="0" algn="ctr">
              <a:buNone/>
              <a:defRPr sz="2084"/>
            </a:lvl3pPr>
            <a:lvl4pPr marL="1587764" indent="0" algn="ctr">
              <a:buNone/>
              <a:defRPr sz="1852"/>
            </a:lvl4pPr>
            <a:lvl5pPr marL="2117019" indent="0" algn="ctr">
              <a:buNone/>
              <a:defRPr sz="1852"/>
            </a:lvl5pPr>
            <a:lvl6pPr marL="2646274" indent="0" algn="ctr">
              <a:buNone/>
              <a:defRPr sz="1852"/>
            </a:lvl6pPr>
            <a:lvl7pPr marL="3175528" indent="0" algn="ctr">
              <a:buNone/>
              <a:defRPr sz="1852"/>
            </a:lvl7pPr>
            <a:lvl8pPr marL="3704783" indent="0" algn="ctr">
              <a:buNone/>
              <a:defRPr sz="1852"/>
            </a:lvl8pPr>
            <a:lvl9pPr marL="4234038" indent="0" algn="ctr">
              <a:buNone/>
              <a:defRPr sz="1852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300B-F4C3-4081-8219-B9635F206E11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ADF2-42F5-42DA-A555-81223F352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078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300B-F4C3-4081-8219-B9635F206E11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ADF2-42F5-42DA-A555-81223F352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60864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979261"/>
            <a:ext cx="10515600" cy="3302439"/>
          </a:xfrm>
        </p:spPr>
        <p:txBody>
          <a:bodyPr anchor="b"/>
          <a:lstStyle>
            <a:lvl1pPr>
              <a:defRPr sz="6946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5312943"/>
            <a:ext cx="10515600" cy="1736675"/>
          </a:xfrm>
        </p:spPr>
        <p:txBody>
          <a:bodyPr/>
          <a:lstStyle>
            <a:lvl1pPr marL="0" indent="0">
              <a:buNone/>
              <a:defRPr sz="2778">
                <a:solidFill>
                  <a:schemeClr val="tx1"/>
                </a:solidFill>
              </a:defRPr>
            </a:lvl1pPr>
            <a:lvl2pPr marL="529255" indent="0">
              <a:buNone/>
              <a:defRPr sz="2315">
                <a:solidFill>
                  <a:schemeClr val="tx1">
                    <a:tint val="75000"/>
                  </a:schemeClr>
                </a:solidFill>
              </a:defRPr>
            </a:lvl2pPr>
            <a:lvl3pPr marL="1058509" indent="0">
              <a:buNone/>
              <a:defRPr sz="2084">
                <a:solidFill>
                  <a:schemeClr val="tx1">
                    <a:tint val="75000"/>
                  </a:schemeClr>
                </a:solidFill>
              </a:defRPr>
            </a:lvl3pPr>
            <a:lvl4pPr marL="1587764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4pPr>
            <a:lvl5pPr marL="2117019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5pPr>
            <a:lvl6pPr marL="2646274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6pPr>
            <a:lvl7pPr marL="3175528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7pPr>
            <a:lvl8pPr marL="3704783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8pPr>
            <a:lvl9pPr marL="4234038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300B-F4C3-4081-8219-B9635F206E11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ADF2-42F5-42DA-A555-81223F352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6518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113415"/>
            <a:ext cx="5181600" cy="503727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13415"/>
            <a:ext cx="5181600" cy="503727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300B-F4C3-4081-8219-B9635F206E11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ADF2-42F5-42DA-A555-81223F352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773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22685"/>
            <a:ext cx="10515600" cy="153452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946180"/>
            <a:ext cx="5157787" cy="953793"/>
          </a:xfrm>
        </p:spPr>
        <p:txBody>
          <a:bodyPr anchor="b"/>
          <a:lstStyle>
            <a:lvl1pPr marL="0" indent="0">
              <a:buNone/>
              <a:defRPr sz="2778" b="1"/>
            </a:lvl1pPr>
            <a:lvl2pPr marL="529255" indent="0">
              <a:buNone/>
              <a:defRPr sz="2315" b="1"/>
            </a:lvl2pPr>
            <a:lvl3pPr marL="1058509" indent="0">
              <a:buNone/>
              <a:defRPr sz="2084" b="1"/>
            </a:lvl3pPr>
            <a:lvl4pPr marL="1587764" indent="0">
              <a:buNone/>
              <a:defRPr sz="1852" b="1"/>
            </a:lvl4pPr>
            <a:lvl5pPr marL="2117019" indent="0">
              <a:buNone/>
              <a:defRPr sz="1852" b="1"/>
            </a:lvl5pPr>
            <a:lvl6pPr marL="2646274" indent="0">
              <a:buNone/>
              <a:defRPr sz="1852" b="1"/>
            </a:lvl6pPr>
            <a:lvl7pPr marL="3175528" indent="0">
              <a:buNone/>
              <a:defRPr sz="1852" b="1"/>
            </a:lvl7pPr>
            <a:lvl8pPr marL="3704783" indent="0">
              <a:buNone/>
              <a:defRPr sz="1852" b="1"/>
            </a:lvl8pPr>
            <a:lvl9pPr marL="4234038" indent="0">
              <a:buNone/>
              <a:defRPr sz="1852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899972"/>
            <a:ext cx="5157787" cy="426542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946180"/>
            <a:ext cx="5183188" cy="953793"/>
          </a:xfrm>
        </p:spPr>
        <p:txBody>
          <a:bodyPr anchor="b"/>
          <a:lstStyle>
            <a:lvl1pPr marL="0" indent="0">
              <a:buNone/>
              <a:defRPr sz="2778" b="1"/>
            </a:lvl1pPr>
            <a:lvl2pPr marL="529255" indent="0">
              <a:buNone/>
              <a:defRPr sz="2315" b="1"/>
            </a:lvl2pPr>
            <a:lvl3pPr marL="1058509" indent="0">
              <a:buNone/>
              <a:defRPr sz="2084" b="1"/>
            </a:lvl3pPr>
            <a:lvl4pPr marL="1587764" indent="0">
              <a:buNone/>
              <a:defRPr sz="1852" b="1"/>
            </a:lvl4pPr>
            <a:lvl5pPr marL="2117019" indent="0">
              <a:buNone/>
              <a:defRPr sz="1852" b="1"/>
            </a:lvl5pPr>
            <a:lvl6pPr marL="2646274" indent="0">
              <a:buNone/>
              <a:defRPr sz="1852" b="1"/>
            </a:lvl6pPr>
            <a:lvl7pPr marL="3175528" indent="0">
              <a:buNone/>
              <a:defRPr sz="1852" b="1"/>
            </a:lvl7pPr>
            <a:lvl8pPr marL="3704783" indent="0">
              <a:buNone/>
              <a:defRPr sz="1852" b="1"/>
            </a:lvl8pPr>
            <a:lvl9pPr marL="4234038" indent="0">
              <a:buNone/>
              <a:defRPr sz="1852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899972"/>
            <a:ext cx="5183188" cy="426542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300B-F4C3-4081-8219-B9635F206E11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ADF2-42F5-42DA-A555-81223F352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6281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300B-F4C3-4081-8219-B9635F206E11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ADF2-42F5-42DA-A555-81223F352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2481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300B-F4C3-4081-8219-B9635F206E11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ADF2-42F5-42DA-A555-81223F352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7516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29272"/>
            <a:ext cx="3932237" cy="1852454"/>
          </a:xfrm>
        </p:spPr>
        <p:txBody>
          <a:bodyPr anchor="b"/>
          <a:lstStyle>
            <a:lvl1pPr>
              <a:defRPr sz="370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143083"/>
            <a:ext cx="6172200" cy="5641898"/>
          </a:xfrm>
        </p:spPr>
        <p:txBody>
          <a:bodyPr/>
          <a:lstStyle>
            <a:lvl1pPr>
              <a:defRPr sz="3704"/>
            </a:lvl1pPr>
            <a:lvl2pPr>
              <a:defRPr sz="3241"/>
            </a:lvl2pPr>
            <a:lvl3pPr>
              <a:defRPr sz="2778"/>
            </a:lvl3pPr>
            <a:lvl4pPr>
              <a:defRPr sz="2315"/>
            </a:lvl4pPr>
            <a:lvl5pPr>
              <a:defRPr sz="2315"/>
            </a:lvl5pPr>
            <a:lvl6pPr>
              <a:defRPr sz="2315"/>
            </a:lvl6pPr>
            <a:lvl7pPr>
              <a:defRPr sz="2315"/>
            </a:lvl7pPr>
            <a:lvl8pPr>
              <a:defRPr sz="2315"/>
            </a:lvl8pPr>
            <a:lvl9pPr>
              <a:defRPr sz="231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381726"/>
            <a:ext cx="3932237" cy="4412443"/>
          </a:xfrm>
        </p:spPr>
        <p:txBody>
          <a:bodyPr/>
          <a:lstStyle>
            <a:lvl1pPr marL="0" indent="0">
              <a:buNone/>
              <a:defRPr sz="1852"/>
            </a:lvl1pPr>
            <a:lvl2pPr marL="529255" indent="0">
              <a:buNone/>
              <a:defRPr sz="1621"/>
            </a:lvl2pPr>
            <a:lvl3pPr marL="1058509" indent="0">
              <a:buNone/>
              <a:defRPr sz="1389"/>
            </a:lvl3pPr>
            <a:lvl4pPr marL="1587764" indent="0">
              <a:buNone/>
              <a:defRPr sz="1158"/>
            </a:lvl4pPr>
            <a:lvl5pPr marL="2117019" indent="0">
              <a:buNone/>
              <a:defRPr sz="1158"/>
            </a:lvl5pPr>
            <a:lvl6pPr marL="2646274" indent="0">
              <a:buNone/>
              <a:defRPr sz="1158"/>
            </a:lvl6pPr>
            <a:lvl7pPr marL="3175528" indent="0">
              <a:buNone/>
              <a:defRPr sz="1158"/>
            </a:lvl7pPr>
            <a:lvl8pPr marL="3704783" indent="0">
              <a:buNone/>
              <a:defRPr sz="1158"/>
            </a:lvl8pPr>
            <a:lvl9pPr marL="4234038" indent="0">
              <a:buNone/>
              <a:defRPr sz="115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300B-F4C3-4081-8219-B9635F206E11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ADF2-42F5-42DA-A555-81223F352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1926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29272"/>
            <a:ext cx="3932237" cy="1852454"/>
          </a:xfrm>
        </p:spPr>
        <p:txBody>
          <a:bodyPr anchor="b"/>
          <a:lstStyle>
            <a:lvl1pPr>
              <a:defRPr sz="370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143083"/>
            <a:ext cx="6172200" cy="5641898"/>
          </a:xfrm>
        </p:spPr>
        <p:txBody>
          <a:bodyPr anchor="t"/>
          <a:lstStyle>
            <a:lvl1pPr marL="0" indent="0">
              <a:buNone/>
              <a:defRPr sz="3704"/>
            </a:lvl1pPr>
            <a:lvl2pPr marL="529255" indent="0">
              <a:buNone/>
              <a:defRPr sz="3241"/>
            </a:lvl2pPr>
            <a:lvl3pPr marL="1058509" indent="0">
              <a:buNone/>
              <a:defRPr sz="2778"/>
            </a:lvl3pPr>
            <a:lvl4pPr marL="1587764" indent="0">
              <a:buNone/>
              <a:defRPr sz="2315"/>
            </a:lvl4pPr>
            <a:lvl5pPr marL="2117019" indent="0">
              <a:buNone/>
              <a:defRPr sz="2315"/>
            </a:lvl5pPr>
            <a:lvl6pPr marL="2646274" indent="0">
              <a:buNone/>
              <a:defRPr sz="2315"/>
            </a:lvl6pPr>
            <a:lvl7pPr marL="3175528" indent="0">
              <a:buNone/>
              <a:defRPr sz="2315"/>
            </a:lvl7pPr>
            <a:lvl8pPr marL="3704783" indent="0">
              <a:buNone/>
              <a:defRPr sz="2315"/>
            </a:lvl8pPr>
            <a:lvl9pPr marL="4234038" indent="0">
              <a:buNone/>
              <a:defRPr sz="2315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381726"/>
            <a:ext cx="3932237" cy="4412443"/>
          </a:xfrm>
        </p:spPr>
        <p:txBody>
          <a:bodyPr/>
          <a:lstStyle>
            <a:lvl1pPr marL="0" indent="0">
              <a:buNone/>
              <a:defRPr sz="1852"/>
            </a:lvl1pPr>
            <a:lvl2pPr marL="529255" indent="0">
              <a:buNone/>
              <a:defRPr sz="1621"/>
            </a:lvl2pPr>
            <a:lvl3pPr marL="1058509" indent="0">
              <a:buNone/>
              <a:defRPr sz="1389"/>
            </a:lvl3pPr>
            <a:lvl4pPr marL="1587764" indent="0">
              <a:buNone/>
              <a:defRPr sz="1158"/>
            </a:lvl4pPr>
            <a:lvl5pPr marL="2117019" indent="0">
              <a:buNone/>
              <a:defRPr sz="1158"/>
            </a:lvl5pPr>
            <a:lvl6pPr marL="2646274" indent="0">
              <a:buNone/>
              <a:defRPr sz="1158"/>
            </a:lvl6pPr>
            <a:lvl7pPr marL="3175528" indent="0">
              <a:buNone/>
              <a:defRPr sz="1158"/>
            </a:lvl7pPr>
            <a:lvl8pPr marL="3704783" indent="0">
              <a:buNone/>
              <a:defRPr sz="1158"/>
            </a:lvl8pPr>
            <a:lvl9pPr marL="4234038" indent="0">
              <a:buNone/>
              <a:defRPr sz="115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300B-F4C3-4081-8219-B9635F206E11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ADF2-42F5-42DA-A555-81223F352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5212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300B-F4C3-4081-8219-B9635F206E11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ADF2-42F5-42DA-A555-81223F352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0039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22683"/>
            <a:ext cx="2628900" cy="672801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22683"/>
            <a:ext cx="7734300" cy="672801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300B-F4C3-4081-8219-B9635F206E11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ADF2-42F5-42DA-A555-81223F352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7176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22685"/>
            <a:ext cx="10515600" cy="1534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113415"/>
            <a:ext cx="10515600" cy="5037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7358360"/>
            <a:ext cx="2743200" cy="422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A300B-F4C3-4081-8219-B9635F206E11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7358360"/>
            <a:ext cx="4114800" cy="422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7358360"/>
            <a:ext cx="2743200" cy="422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6ADF2-42F5-42DA-A555-81223F352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8485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58509" rtl="0" eaLnBrk="1" latinLnBrk="0" hangingPunct="1">
        <a:lnSpc>
          <a:spcPct val="90000"/>
        </a:lnSpc>
        <a:spcBef>
          <a:spcPct val="0"/>
        </a:spcBef>
        <a:buNone/>
        <a:defRPr sz="50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4627" indent="-264627" algn="l" defTabSz="1058509" rtl="0" eaLnBrk="1" latinLnBrk="0" hangingPunct="1">
        <a:lnSpc>
          <a:spcPct val="90000"/>
        </a:lnSpc>
        <a:spcBef>
          <a:spcPts val="1158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1pPr>
      <a:lvl2pPr marL="793882" indent="-264627" algn="l" defTabSz="1058509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sz="2778" kern="1200">
          <a:solidFill>
            <a:schemeClr val="tx1"/>
          </a:solidFill>
          <a:latin typeface="+mn-lt"/>
          <a:ea typeface="+mn-ea"/>
          <a:cs typeface="+mn-cs"/>
        </a:defRPr>
      </a:lvl2pPr>
      <a:lvl3pPr marL="1323137" indent="-264627" algn="l" defTabSz="1058509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3pPr>
      <a:lvl4pPr marL="1852392" indent="-264627" algn="l" defTabSz="1058509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sz="2084" kern="1200">
          <a:solidFill>
            <a:schemeClr val="tx1"/>
          </a:solidFill>
          <a:latin typeface="+mn-lt"/>
          <a:ea typeface="+mn-ea"/>
          <a:cs typeface="+mn-cs"/>
        </a:defRPr>
      </a:lvl4pPr>
      <a:lvl5pPr marL="2381646" indent="-264627" algn="l" defTabSz="1058509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sz="2084" kern="1200">
          <a:solidFill>
            <a:schemeClr val="tx1"/>
          </a:solidFill>
          <a:latin typeface="+mn-lt"/>
          <a:ea typeface="+mn-ea"/>
          <a:cs typeface="+mn-cs"/>
        </a:defRPr>
      </a:lvl5pPr>
      <a:lvl6pPr marL="2910901" indent="-264627" algn="l" defTabSz="1058509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sz="2084" kern="1200">
          <a:solidFill>
            <a:schemeClr val="tx1"/>
          </a:solidFill>
          <a:latin typeface="+mn-lt"/>
          <a:ea typeface="+mn-ea"/>
          <a:cs typeface="+mn-cs"/>
        </a:defRPr>
      </a:lvl6pPr>
      <a:lvl7pPr marL="3440156" indent="-264627" algn="l" defTabSz="1058509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sz="2084" kern="1200">
          <a:solidFill>
            <a:schemeClr val="tx1"/>
          </a:solidFill>
          <a:latin typeface="+mn-lt"/>
          <a:ea typeface="+mn-ea"/>
          <a:cs typeface="+mn-cs"/>
        </a:defRPr>
      </a:lvl7pPr>
      <a:lvl8pPr marL="3969410" indent="-264627" algn="l" defTabSz="1058509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sz="2084" kern="1200">
          <a:solidFill>
            <a:schemeClr val="tx1"/>
          </a:solidFill>
          <a:latin typeface="+mn-lt"/>
          <a:ea typeface="+mn-ea"/>
          <a:cs typeface="+mn-cs"/>
        </a:defRPr>
      </a:lvl8pPr>
      <a:lvl9pPr marL="4498665" indent="-264627" algn="l" defTabSz="1058509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sz="20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8509" rtl="0" eaLnBrk="1" latinLnBrk="0" hangingPunct="1">
        <a:defRPr sz="2084" kern="1200">
          <a:solidFill>
            <a:schemeClr val="tx1"/>
          </a:solidFill>
          <a:latin typeface="+mn-lt"/>
          <a:ea typeface="+mn-ea"/>
          <a:cs typeface="+mn-cs"/>
        </a:defRPr>
      </a:lvl1pPr>
      <a:lvl2pPr marL="529255" algn="l" defTabSz="1058509" rtl="0" eaLnBrk="1" latinLnBrk="0" hangingPunct="1">
        <a:defRPr sz="2084" kern="1200">
          <a:solidFill>
            <a:schemeClr val="tx1"/>
          </a:solidFill>
          <a:latin typeface="+mn-lt"/>
          <a:ea typeface="+mn-ea"/>
          <a:cs typeface="+mn-cs"/>
        </a:defRPr>
      </a:lvl2pPr>
      <a:lvl3pPr marL="1058509" algn="l" defTabSz="1058509" rtl="0" eaLnBrk="1" latinLnBrk="0" hangingPunct="1">
        <a:defRPr sz="2084" kern="1200">
          <a:solidFill>
            <a:schemeClr val="tx1"/>
          </a:solidFill>
          <a:latin typeface="+mn-lt"/>
          <a:ea typeface="+mn-ea"/>
          <a:cs typeface="+mn-cs"/>
        </a:defRPr>
      </a:lvl3pPr>
      <a:lvl4pPr marL="1587764" algn="l" defTabSz="1058509" rtl="0" eaLnBrk="1" latinLnBrk="0" hangingPunct="1">
        <a:defRPr sz="2084" kern="1200">
          <a:solidFill>
            <a:schemeClr val="tx1"/>
          </a:solidFill>
          <a:latin typeface="+mn-lt"/>
          <a:ea typeface="+mn-ea"/>
          <a:cs typeface="+mn-cs"/>
        </a:defRPr>
      </a:lvl4pPr>
      <a:lvl5pPr marL="2117019" algn="l" defTabSz="1058509" rtl="0" eaLnBrk="1" latinLnBrk="0" hangingPunct="1">
        <a:defRPr sz="2084" kern="1200">
          <a:solidFill>
            <a:schemeClr val="tx1"/>
          </a:solidFill>
          <a:latin typeface="+mn-lt"/>
          <a:ea typeface="+mn-ea"/>
          <a:cs typeface="+mn-cs"/>
        </a:defRPr>
      </a:lvl5pPr>
      <a:lvl6pPr marL="2646274" algn="l" defTabSz="1058509" rtl="0" eaLnBrk="1" latinLnBrk="0" hangingPunct="1">
        <a:defRPr sz="2084" kern="1200">
          <a:solidFill>
            <a:schemeClr val="tx1"/>
          </a:solidFill>
          <a:latin typeface="+mn-lt"/>
          <a:ea typeface="+mn-ea"/>
          <a:cs typeface="+mn-cs"/>
        </a:defRPr>
      </a:lvl6pPr>
      <a:lvl7pPr marL="3175528" algn="l" defTabSz="1058509" rtl="0" eaLnBrk="1" latinLnBrk="0" hangingPunct="1">
        <a:defRPr sz="2084" kern="1200">
          <a:solidFill>
            <a:schemeClr val="tx1"/>
          </a:solidFill>
          <a:latin typeface="+mn-lt"/>
          <a:ea typeface="+mn-ea"/>
          <a:cs typeface="+mn-cs"/>
        </a:defRPr>
      </a:lvl7pPr>
      <a:lvl8pPr marL="3704783" algn="l" defTabSz="1058509" rtl="0" eaLnBrk="1" latinLnBrk="0" hangingPunct="1">
        <a:defRPr sz="2084" kern="1200">
          <a:solidFill>
            <a:schemeClr val="tx1"/>
          </a:solidFill>
          <a:latin typeface="+mn-lt"/>
          <a:ea typeface="+mn-ea"/>
          <a:cs typeface="+mn-cs"/>
        </a:defRPr>
      </a:lvl8pPr>
      <a:lvl9pPr marL="4234038" algn="l" defTabSz="1058509" rtl="0" eaLnBrk="1" latinLnBrk="0" hangingPunct="1">
        <a:defRPr sz="20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8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419E-8ECE-447E-B9CD-50786F792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556" y="3013851"/>
            <a:ext cx="10585450" cy="1470914"/>
          </a:xfrm>
        </p:spPr>
        <p:txBody>
          <a:bodyPr>
            <a:normAutofit fontScale="90000"/>
          </a:bodyPr>
          <a:lstStyle/>
          <a:p>
            <a:r>
              <a:rPr lang="es-CO" sz="8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INTELIGENCIA DE NEGOCIOS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0C422B5-7631-F34A-A46A-6D12174EEA96}"/>
              </a:ext>
            </a:extLst>
          </p:cNvPr>
          <p:cNvSpPr txBox="1"/>
          <p:nvPr/>
        </p:nvSpPr>
        <p:spPr>
          <a:xfrm>
            <a:off x="174661" y="4381995"/>
            <a:ext cx="110173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Especialización en Data </a:t>
            </a:r>
            <a:r>
              <a:rPr lang="es-ES" sz="40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es-ES" sz="40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Marketing Digital</a:t>
            </a:r>
            <a:endParaRPr lang="es-CO" sz="400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629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5FD6FDE4-79E3-864C-94F1-D4D6F8FE235E}"/>
              </a:ext>
            </a:extLst>
          </p:cNvPr>
          <p:cNvSpPr txBox="1">
            <a:spLocks/>
          </p:cNvSpPr>
          <p:nvPr/>
        </p:nvSpPr>
        <p:spPr>
          <a:xfrm>
            <a:off x="1030025" y="1389696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5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Fundamentos de Inteligencia de Negocios 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04A9D77A-2D5F-0A3B-120D-822568E3EAC6}"/>
              </a:ext>
            </a:extLst>
          </p:cNvPr>
          <p:cNvSpPr txBox="1">
            <a:spLocks/>
          </p:cNvSpPr>
          <p:nvPr/>
        </p:nvSpPr>
        <p:spPr>
          <a:xfrm>
            <a:off x="729465" y="2979658"/>
            <a:ext cx="10315254" cy="406841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s-CO" sz="2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Propósito</a:t>
            </a:r>
          </a:p>
          <a:p>
            <a:pPr algn="l">
              <a:lnSpc>
                <a:spcPct val="120000"/>
              </a:lnSpc>
            </a:pPr>
            <a:endParaRPr lang="es-CO" sz="2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Diferenciar datos, información, conocimiento y decisiones.</a:t>
            </a: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s-ES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Explicar qué es la Inteligencia de Negocios y qué problemas empresariales ayuda a resolver.</a:t>
            </a: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s-ES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Comprender las etapas de una arquitectura de BI y el papel de las fuentes de datos.</a:t>
            </a: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s-ES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Identificar aplicaciones de BI en campañas, clientes, ventas y canales digitales.</a:t>
            </a: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s-ES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Interpretar indicadores y reconocer que una métrica, por sí sola, no explica todo el negocio.</a:t>
            </a:r>
            <a:endParaRPr lang="es-CO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934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419E-8ECE-447E-B9CD-50786F792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556" y="3013851"/>
            <a:ext cx="10585450" cy="1470914"/>
          </a:xfrm>
        </p:spPr>
        <p:txBody>
          <a:bodyPr>
            <a:normAutofit/>
          </a:bodyPr>
          <a:lstStyle/>
          <a:p>
            <a:r>
              <a:rPr lang="es-CO" sz="8335" b="1" dirty="0">
                <a:solidFill>
                  <a:schemeClr val="bg1"/>
                </a:solidFill>
                <a:latin typeface="+mn-lt"/>
                <a:cs typeface="Aharoni" panose="020B0604020202020204" pitchFamily="2" charset="-79"/>
              </a:rPr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Fundamentos de Inteligencia de Negocios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BAF41AC-2E13-0548-859B-D649B9363A3F}"/>
              </a:ext>
            </a:extLst>
          </p:cNvPr>
          <p:cNvSpPr txBox="1">
            <a:spLocks/>
          </p:cNvSpPr>
          <p:nvPr/>
        </p:nvSpPr>
        <p:spPr>
          <a:xfrm>
            <a:off x="1816848" y="2248052"/>
            <a:ext cx="9768596" cy="409110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s-CO" sz="2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es Business </a:t>
            </a:r>
            <a:r>
              <a:rPr lang="es-CO" sz="2000" b="1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Intelligence</a:t>
            </a:r>
            <a:r>
              <a:rPr lang="es-CO" sz="2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algn="l">
              <a:lnSpc>
                <a:spcPct val="120000"/>
              </a:lnSpc>
            </a:pPr>
            <a:endParaRPr lang="es-CO" sz="2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Inteligencia de Negocios, o Business </a:t>
            </a:r>
            <a:r>
              <a:rPr lang="es-ES" sz="2000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Intelligence</a:t>
            </a: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(BI), es el conjunto de procesos, métodos y herramientas que permiten recopilar, integrar, organizar, analizar y presentar datos para apoyar las decisiones de una organización.</a:t>
            </a:r>
          </a:p>
          <a:p>
            <a:pPr algn="l">
              <a:lnSpc>
                <a:spcPct val="120000"/>
              </a:lnSpc>
            </a:pPr>
            <a:endParaRPr lang="es-ES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campaña publicitaria genera más ventas?</a:t>
            </a: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clientes tienen mayor probabilidad de abandonar una marca?</a:t>
            </a: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productos producen ingresos, pero dejan poco margen?</a:t>
            </a: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¿En qué canal se está desperdiciando el presupuesto?</a:t>
            </a: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¿Por qué las visitas aumentan, pero las ventas permanecen estables?</a:t>
            </a: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s-CO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347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419E-8ECE-447E-B9CD-50786F792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556" y="3013851"/>
            <a:ext cx="10585450" cy="1470914"/>
          </a:xfrm>
        </p:spPr>
        <p:txBody>
          <a:bodyPr>
            <a:normAutofit/>
          </a:bodyPr>
          <a:lstStyle/>
          <a:p>
            <a:r>
              <a:rPr lang="es-CO" sz="8335" b="1" dirty="0">
                <a:solidFill>
                  <a:schemeClr val="bg1"/>
                </a:solidFill>
                <a:latin typeface="+mn-lt"/>
                <a:cs typeface="Aharoni" panose="020B0604020202020204" pitchFamily="2" charset="-79"/>
              </a:rPr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Fundamentos de Inteligencia de Negocios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BAF41AC-2E13-0548-859B-D649B9363A3F}"/>
              </a:ext>
            </a:extLst>
          </p:cNvPr>
          <p:cNvSpPr txBox="1">
            <a:spLocks/>
          </p:cNvSpPr>
          <p:nvPr/>
        </p:nvSpPr>
        <p:spPr>
          <a:xfrm>
            <a:off x="1816848" y="2248053"/>
            <a:ext cx="9768596" cy="252071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s-CO" sz="2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es Business </a:t>
            </a:r>
            <a:r>
              <a:rPr lang="es-CO" sz="2000" b="1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Intelligence</a:t>
            </a:r>
            <a:r>
              <a:rPr lang="es-CO" sz="2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algn="l">
              <a:lnSpc>
                <a:spcPct val="120000"/>
              </a:lnSpc>
            </a:pPr>
            <a:endParaRPr lang="es-CO" sz="2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Inteligencia de Negocios, o Business </a:t>
            </a:r>
            <a:r>
              <a:rPr lang="es-ES" sz="2000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Intelligence</a:t>
            </a: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(BI), es el conjunto de procesos, métodos y herramientas que permiten recopilar, integrar, organizar, analizar y presentar datos para apoyar las decisiones de una organización.</a:t>
            </a:r>
          </a:p>
          <a:p>
            <a:pPr algn="l">
              <a:lnSpc>
                <a:spcPct val="120000"/>
              </a:lnSpc>
            </a:pPr>
            <a:endParaRPr lang="es-ES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s-CO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DCB7751-7F39-42F3-A472-5211FF09F2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026" y="4187531"/>
            <a:ext cx="10810876" cy="361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491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419E-8ECE-447E-B9CD-50786F792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556" y="3013851"/>
            <a:ext cx="10585450" cy="1470914"/>
          </a:xfrm>
        </p:spPr>
        <p:txBody>
          <a:bodyPr>
            <a:normAutofit/>
          </a:bodyPr>
          <a:lstStyle/>
          <a:p>
            <a:r>
              <a:rPr lang="es-CO" sz="8335" b="1" dirty="0">
                <a:solidFill>
                  <a:schemeClr val="bg1"/>
                </a:solidFill>
                <a:latin typeface="+mn-lt"/>
                <a:cs typeface="Aharoni" panose="020B0604020202020204" pitchFamily="2" charset="-79"/>
              </a:rPr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Qué problemas resuelve  BI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42430083-D621-AF40-ECB8-0990C016C0E4}"/>
              </a:ext>
            </a:extLst>
          </p:cNvPr>
          <p:cNvSpPr txBox="1">
            <a:spLocks/>
          </p:cNvSpPr>
          <p:nvPr/>
        </p:nvSpPr>
        <p:spPr>
          <a:xfrm>
            <a:off x="1030025" y="6400800"/>
            <a:ext cx="10271548" cy="12176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importante aclarar que BI no elimina la intuición ni garantiza decisiones correctas.</a:t>
            </a:r>
            <a:endParaRPr lang="es-CO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8982EB54-88CB-4207-80F1-E3AEBDA1E4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403936"/>
              </p:ext>
            </p:extLst>
          </p:nvPr>
        </p:nvGraphicFramePr>
        <p:xfrm>
          <a:off x="1030025" y="2107089"/>
          <a:ext cx="10271548" cy="372491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135774">
                  <a:extLst>
                    <a:ext uri="{9D8B030D-6E8A-4147-A177-3AD203B41FA5}">
                      <a16:colId xmlns:a16="http://schemas.microsoft.com/office/drawing/2014/main" val="833419805"/>
                    </a:ext>
                  </a:extLst>
                </a:gridCol>
                <a:gridCol w="5135774">
                  <a:extLst>
                    <a:ext uri="{9D8B030D-6E8A-4147-A177-3AD203B41FA5}">
                      <a16:colId xmlns:a16="http://schemas.microsoft.com/office/drawing/2014/main" val="914868476"/>
                    </a:ext>
                  </a:extLst>
                </a:gridCol>
              </a:tblGrid>
              <a:tr h="295418">
                <a:tc>
                  <a:txBody>
                    <a:bodyPr/>
                    <a:lstStyle/>
                    <a:p>
                      <a:r>
                        <a:rPr lang="es-CO" dirty="0"/>
                        <a:t>Problema empresarial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Aporte de BI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338927"/>
                  </a:ext>
                </a:extLst>
              </a:tr>
              <a:tr h="524800">
                <a:tc>
                  <a:txBody>
                    <a:bodyPr/>
                    <a:lstStyle/>
                    <a:p>
                      <a:r>
                        <a:rPr lang="es-ES" dirty="0"/>
                        <a:t>La información está dispersa en varias plataformas.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Integra fuentes y facilita una visión conjunta.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071239"/>
                  </a:ext>
                </a:extLst>
              </a:tr>
              <a:tr h="524800">
                <a:tc>
                  <a:txBody>
                    <a:bodyPr/>
                    <a:lstStyle/>
                    <a:p>
                      <a:r>
                        <a:rPr lang="es-ES" dirty="0"/>
                        <a:t>Los informes se elaboran manualmente y con retraso.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Automatiza procesos de consolidación y actualización.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269703"/>
                  </a:ext>
                </a:extLst>
              </a:tr>
              <a:tr h="524800">
                <a:tc>
                  <a:txBody>
                    <a:bodyPr/>
                    <a:lstStyle/>
                    <a:p>
                      <a:r>
                        <a:rPr lang="es-ES" dirty="0"/>
                        <a:t>Los responsables toman decisiones por intuición.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Aporta evidencia para contrastar hipótesis.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574655"/>
                  </a:ext>
                </a:extLst>
              </a:tr>
              <a:tr h="524800">
                <a:tc>
                  <a:txBody>
                    <a:bodyPr/>
                    <a:lstStyle/>
                    <a:p>
                      <a:r>
                        <a:rPr lang="es-ES" dirty="0"/>
                        <a:t>No se sabe qué campaña funciona mejor.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Permite comparar resultados, costos y conversiones.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562932"/>
                  </a:ext>
                </a:extLst>
              </a:tr>
              <a:tr h="295418">
                <a:tc>
                  <a:txBody>
                    <a:bodyPr/>
                    <a:lstStyle/>
                    <a:p>
                      <a:r>
                        <a:rPr lang="es-ES" dirty="0"/>
                        <a:t>Se observan ventas, pero no rentabilidad.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Facilita cruzar ingresos, costos y márgenes.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071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7151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419E-8ECE-447E-B9CD-50786F792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556" y="3013851"/>
            <a:ext cx="10585450" cy="1470914"/>
          </a:xfrm>
        </p:spPr>
        <p:txBody>
          <a:bodyPr>
            <a:normAutofit/>
          </a:bodyPr>
          <a:lstStyle/>
          <a:p>
            <a:r>
              <a:rPr lang="es-CO" sz="8335" b="1" dirty="0">
                <a:solidFill>
                  <a:schemeClr val="bg1"/>
                </a:solidFill>
                <a:latin typeface="+mn-lt"/>
                <a:cs typeface="Aharoni" panose="020B0604020202020204" pitchFamily="2" charset="-79"/>
              </a:rPr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BI, analítica de datos y ciencia de datos</a:t>
            </a:r>
            <a:endParaRPr lang="es-CO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A7CE1F4B-3F89-4D93-86CE-21671A0C0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63636"/>
              </p:ext>
            </p:extLst>
          </p:nvPr>
        </p:nvGraphicFramePr>
        <p:xfrm>
          <a:off x="1256082" y="2503383"/>
          <a:ext cx="9990720" cy="354203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330240">
                  <a:extLst>
                    <a:ext uri="{9D8B030D-6E8A-4147-A177-3AD203B41FA5}">
                      <a16:colId xmlns:a16="http://schemas.microsoft.com/office/drawing/2014/main" val="3897127032"/>
                    </a:ext>
                  </a:extLst>
                </a:gridCol>
                <a:gridCol w="3330240">
                  <a:extLst>
                    <a:ext uri="{9D8B030D-6E8A-4147-A177-3AD203B41FA5}">
                      <a16:colId xmlns:a16="http://schemas.microsoft.com/office/drawing/2014/main" val="3598791766"/>
                    </a:ext>
                  </a:extLst>
                </a:gridCol>
                <a:gridCol w="3330240">
                  <a:extLst>
                    <a:ext uri="{9D8B030D-6E8A-4147-A177-3AD203B41FA5}">
                      <a16:colId xmlns:a16="http://schemas.microsoft.com/office/drawing/2014/main" val="2986218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O"/>
                        <a:t>Concepto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Pregunta que busca responder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Ejemplo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513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Inteligencia de Negocios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¿Qué está pasando y cómo podemos entenderlo para decidir?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Comparar ventas por campaña y canal.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032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Analítica de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¿Qué patrones, relaciones o explicaciones encontramos?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Investigar por qué un canal convierte menos.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70912"/>
                  </a:ext>
                </a:extLst>
              </a:tr>
              <a:tr h="304986">
                <a:tc>
                  <a:txBody>
                    <a:bodyPr/>
                    <a:lstStyle/>
                    <a:p>
                      <a:r>
                        <a:rPr lang="es-CO" dirty="0"/>
                        <a:t>Ciencia de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¿Qué modelos podemos construir para explicar o predecir fenómenos?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Entrenar un modelo para estimar la probabilidad de abandono.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861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3824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419E-8ECE-447E-B9CD-50786F792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556" y="3013851"/>
            <a:ext cx="10585450" cy="1470914"/>
          </a:xfrm>
        </p:spPr>
        <p:txBody>
          <a:bodyPr>
            <a:normAutofit/>
          </a:bodyPr>
          <a:lstStyle/>
          <a:p>
            <a:r>
              <a:rPr lang="es-CO" sz="8335" b="1" dirty="0">
                <a:solidFill>
                  <a:schemeClr val="bg1"/>
                </a:solidFill>
                <a:latin typeface="+mn-lt"/>
                <a:cs typeface="Aharoni" panose="020B0604020202020204" pitchFamily="2" charset="-79"/>
              </a:rPr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Datos, información, conocimiento y toma de decisiones</a:t>
            </a:r>
            <a:endParaRPr lang="es-CO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BAF41AC-2E13-0548-859B-D649B9363A3F}"/>
              </a:ext>
            </a:extLst>
          </p:cNvPr>
          <p:cNvSpPr txBox="1">
            <a:spLocks/>
          </p:cNvSpPr>
          <p:nvPr/>
        </p:nvSpPr>
        <p:spPr>
          <a:xfrm>
            <a:off x="1816848" y="2403369"/>
            <a:ext cx="8164865" cy="44734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s-CO" sz="2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 </a:t>
            </a:r>
            <a:r>
              <a:rPr lang="es-CO" sz="2000" b="1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Kahoot</a:t>
            </a:r>
            <a:endParaRPr lang="es-CO" sz="2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</a:pPr>
            <a:endParaRPr lang="es-CO" sz="2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es-CO" sz="2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 tarjetas</a:t>
            </a:r>
          </a:p>
          <a:p>
            <a:pPr algn="l">
              <a:lnSpc>
                <a:spcPct val="120000"/>
              </a:lnSpc>
            </a:pPr>
            <a:endParaRPr lang="es-CO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121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419E-8ECE-447E-B9CD-50786F792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556" y="3013851"/>
            <a:ext cx="10585450" cy="1470914"/>
          </a:xfrm>
        </p:spPr>
        <p:txBody>
          <a:bodyPr>
            <a:normAutofit/>
          </a:bodyPr>
          <a:lstStyle/>
          <a:p>
            <a:r>
              <a:rPr lang="es-CO" sz="8335" b="1" dirty="0">
                <a:solidFill>
                  <a:schemeClr val="bg1"/>
                </a:solidFill>
                <a:latin typeface="+mn-lt"/>
                <a:cs typeface="Aharoni" panose="020B0604020202020204" pitchFamily="2" charset="-79"/>
              </a:rPr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Datos, información, conocimiento y toma de decisiones</a:t>
            </a:r>
            <a:endParaRPr lang="es-CO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2" descr="Imagen generada 1">
            <a:extLst>
              <a:ext uri="{FF2B5EF4-FFF2-40B4-BE49-F238E27FC236}">
                <a16:creationId xmlns:a16="http://schemas.microsoft.com/office/drawing/2014/main" id="{01424524-0F19-4F3A-9269-31B22E9B7A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816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22B4111-7B24-48B2-8D7C-5C8F70EA6A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176" y="1802153"/>
            <a:ext cx="10730448" cy="536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217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419E-8ECE-447E-B9CD-50786F792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556" y="3013851"/>
            <a:ext cx="10585450" cy="1470914"/>
          </a:xfrm>
        </p:spPr>
        <p:txBody>
          <a:bodyPr>
            <a:normAutofit/>
          </a:bodyPr>
          <a:lstStyle/>
          <a:p>
            <a:r>
              <a:rPr lang="es-CO" sz="8335" b="1" dirty="0">
                <a:solidFill>
                  <a:schemeClr val="bg1"/>
                </a:solidFill>
                <a:latin typeface="+mn-lt"/>
                <a:cs typeface="Aharoni" panose="020B0604020202020204" pitchFamily="2" charset="-79"/>
              </a:rPr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Datos, información, conocimiento y toma de decisiones</a:t>
            </a:r>
            <a:endParaRPr lang="es-CO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BAF41AC-2E13-0548-859B-D649B9363A3F}"/>
              </a:ext>
            </a:extLst>
          </p:cNvPr>
          <p:cNvSpPr txBox="1">
            <a:spLocks/>
          </p:cNvSpPr>
          <p:nvPr/>
        </p:nvSpPr>
        <p:spPr>
          <a:xfrm>
            <a:off x="1816848" y="2403369"/>
            <a:ext cx="8164865" cy="44734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Inteligencia de Negocios permite recorrer ese camino de manera sistemática: transformar registros en información, interpretarla con contexto y utilizarla para tomar decisiones cuyo resultado podamos medir.</a:t>
            </a:r>
            <a:endParaRPr lang="es-CO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687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419E-8ECE-447E-B9CD-50786F792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556" y="3013851"/>
            <a:ext cx="10585450" cy="1470914"/>
          </a:xfrm>
        </p:spPr>
        <p:txBody>
          <a:bodyPr>
            <a:normAutofit/>
          </a:bodyPr>
          <a:lstStyle/>
          <a:p>
            <a:r>
              <a:rPr lang="es-CO" sz="8335" b="1" dirty="0">
                <a:solidFill>
                  <a:schemeClr val="bg1"/>
                </a:solidFill>
                <a:latin typeface="+mn-lt"/>
                <a:cs typeface="Aharoni" panose="020B0604020202020204" pitchFamily="2" charset="-79"/>
              </a:rPr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¿Cómo funciona un proceso de BI?</a:t>
            </a:r>
            <a:endParaRPr lang="es-CO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2" descr="Imagen generada 1">
            <a:extLst>
              <a:ext uri="{FF2B5EF4-FFF2-40B4-BE49-F238E27FC236}">
                <a16:creationId xmlns:a16="http://schemas.microsoft.com/office/drawing/2014/main" id="{5AAA8FC7-603E-499D-8F9F-7157133D39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816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1822D9D-0EC1-44EA-A3C5-F07A2E2711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7339" y="1758210"/>
            <a:ext cx="4277322" cy="596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984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419E-8ECE-447E-B9CD-50786F792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556" y="3013851"/>
            <a:ext cx="10585450" cy="1470914"/>
          </a:xfrm>
        </p:spPr>
        <p:txBody>
          <a:bodyPr>
            <a:normAutofit/>
          </a:bodyPr>
          <a:lstStyle/>
          <a:p>
            <a:r>
              <a:rPr lang="es-CO" sz="8335" b="1" dirty="0">
                <a:solidFill>
                  <a:schemeClr val="bg1"/>
                </a:solidFill>
                <a:latin typeface="+mn-lt"/>
                <a:cs typeface="Aharoni" panose="020B0604020202020204" pitchFamily="2" charset="-79"/>
              </a:rPr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¿Cómo funciona un proceso de BI?</a:t>
            </a:r>
            <a:endParaRPr lang="es-CO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2" descr="Imagen generada 1">
            <a:extLst>
              <a:ext uri="{FF2B5EF4-FFF2-40B4-BE49-F238E27FC236}">
                <a16:creationId xmlns:a16="http://schemas.microsoft.com/office/drawing/2014/main" id="{5AAA8FC7-603E-499D-8F9F-7157133D39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816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1822D9D-0EC1-44EA-A3C5-F07A2E2711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5356" y="1758210"/>
            <a:ext cx="3721287" cy="596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624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419E-8ECE-447E-B9CD-50786F792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556" y="3013851"/>
            <a:ext cx="10585450" cy="1470914"/>
          </a:xfrm>
        </p:spPr>
        <p:txBody>
          <a:bodyPr>
            <a:normAutofit/>
          </a:bodyPr>
          <a:lstStyle/>
          <a:p>
            <a:r>
              <a:rPr lang="es-CO" sz="8335" b="1" dirty="0">
                <a:solidFill>
                  <a:schemeClr val="bg1"/>
                </a:solidFill>
                <a:latin typeface="+mn-lt"/>
                <a:cs typeface="Aharoni" panose="020B0604020202020204" pitchFamily="2" charset="-79"/>
              </a:rPr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¿Cómo funciona un proceso de BI?</a:t>
            </a:r>
            <a:endParaRPr lang="es-CO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2" descr="Imagen generada 1">
            <a:extLst>
              <a:ext uri="{FF2B5EF4-FFF2-40B4-BE49-F238E27FC236}">
                <a16:creationId xmlns:a16="http://schemas.microsoft.com/office/drawing/2014/main" id="{5AAA8FC7-603E-499D-8F9F-7157133D39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816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1822D9D-0EC1-44EA-A3C5-F07A2E2711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53636" y="1758210"/>
            <a:ext cx="3884728" cy="596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03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419E-8ECE-447E-B9CD-50786F792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556" y="3013851"/>
            <a:ext cx="10585450" cy="1470914"/>
          </a:xfrm>
        </p:spPr>
        <p:txBody>
          <a:bodyPr>
            <a:normAutofit/>
          </a:bodyPr>
          <a:lstStyle/>
          <a:p>
            <a:r>
              <a:rPr lang="es-CO" sz="8335" b="1" dirty="0">
                <a:solidFill>
                  <a:schemeClr val="bg1"/>
                </a:solidFill>
                <a:latin typeface="+mn-lt"/>
                <a:cs typeface="Aharoni" panose="020B0604020202020204" pitchFamily="2" charset="-79"/>
              </a:rPr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¿Cómo funciona un proceso de BI?</a:t>
            </a:r>
            <a:endParaRPr lang="es-CO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2" descr="Imagen generada 1">
            <a:extLst>
              <a:ext uri="{FF2B5EF4-FFF2-40B4-BE49-F238E27FC236}">
                <a16:creationId xmlns:a16="http://schemas.microsoft.com/office/drawing/2014/main" id="{5AAA8FC7-603E-499D-8F9F-7157133D39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816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1822D9D-0EC1-44EA-A3C5-F07A2E2711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13514" y="1758210"/>
            <a:ext cx="4164971" cy="596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564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419E-8ECE-447E-B9CD-50786F792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556" y="3013851"/>
            <a:ext cx="10585450" cy="1470914"/>
          </a:xfrm>
        </p:spPr>
        <p:txBody>
          <a:bodyPr>
            <a:normAutofit/>
          </a:bodyPr>
          <a:lstStyle/>
          <a:p>
            <a:r>
              <a:rPr lang="es-CO" sz="8335" b="1" dirty="0">
                <a:solidFill>
                  <a:schemeClr val="bg1"/>
                </a:solidFill>
                <a:latin typeface="+mn-lt"/>
                <a:cs typeface="Aharoni" panose="020B0604020202020204" pitchFamily="2" charset="-79"/>
              </a:rPr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¿Cómo funciona un proceso de BI?</a:t>
            </a:r>
            <a:endParaRPr lang="es-CO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2" descr="Imagen generada 1">
            <a:extLst>
              <a:ext uri="{FF2B5EF4-FFF2-40B4-BE49-F238E27FC236}">
                <a16:creationId xmlns:a16="http://schemas.microsoft.com/office/drawing/2014/main" id="{5AAA8FC7-603E-499D-8F9F-7157133D39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816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1822D9D-0EC1-44EA-A3C5-F07A2E2711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85398" y="1758210"/>
            <a:ext cx="3421204" cy="596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341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419E-8ECE-447E-B9CD-50786F792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556" y="3013851"/>
            <a:ext cx="10585450" cy="1470914"/>
          </a:xfrm>
        </p:spPr>
        <p:txBody>
          <a:bodyPr>
            <a:normAutofit/>
          </a:bodyPr>
          <a:lstStyle/>
          <a:p>
            <a:r>
              <a:rPr lang="es-CO" sz="8335" b="1" dirty="0">
                <a:solidFill>
                  <a:schemeClr val="bg1"/>
                </a:solidFill>
                <a:latin typeface="+mn-lt"/>
                <a:cs typeface="Aharoni" panose="020B0604020202020204" pitchFamily="2" charset="-79"/>
              </a:rPr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¿Cómo funciona un proceso de BI?</a:t>
            </a:r>
            <a:endParaRPr lang="es-CO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BAF41AC-2E13-0548-859B-D649B9363A3F}"/>
              </a:ext>
            </a:extLst>
          </p:cNvPr>
          <p:cNvSpPr txBox="1">
            <a:spLocks/>
          </p:cNvSpPr>
          <p:nvPr/>
        </p:nvSpPr>
        <p:spPr>
          <a:xfrm>
            <a:off x="1816848" y="2403369"/>
            <a:ext cx="8164865" cy="44734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proyecto de Inteligencia de Negocios normalmente recorre varias etapas.</a:t>
            </a:r>
            <a:endParaRPr lang="es-CO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2" descr="Imagen generada 1">
            <a:extLst>
              <a:ext uri="{FF2B5EF4-FFF2-40B4-BE49-F238E27FC236}">
                <a16:creationId xmlns:a16="http://schemas.microsoft.com/office/drawing/2014/main" id="{5AAA8FC7-603E-499D-8F9F-7157133D39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816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01CF3C4-E9E8-452D-8658-B6CACDFF4F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14" y="2182188"/>
            <a:ext cx="11712539" cy="390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61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419E-8ECE-447E-B9CD-50786F792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556" y="3013851"/>
            <a:ext cx="10585450" cy="1470914"/>
          </a:xfrm>
        </p:spPr>
        <p:txBody>
          <a:bodyPr>
            <a:normAutofit/>
          </a:bodyPr>
          <a:lstStyle/>
          <a:p>
            <a:r>
              <a:rPr lang="es-CO" sz="8335" b="1" dirty="0">
                <a:solidFill>
                  <a:schemeClr val="bg1"/>
                </a:solidFill>
                <a:latin typeface="+mn-lt"/>
                <a:cs typeface="Aharoni" panose="020B0604020202020204" pitchFamily="2" charset="-79"/>
              </a:rPr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CRISP-DM</a:t>
            </a:r>
            <a:endParaRPr lang="es-CO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BAF41AC-2E13-0548-859B-D649B9363A3F}"/>
              </a:ext>
            </a:extLst>
          </p:cNvPr>
          <p:cNvSpPr txBox="1">
            <a:spLocks/>
          </p:cNvSpPr>
          <p:nvPr/>
        </p:nvSpPr>
        <p:spPr>
          <a:xfrm>
            <a:off x="1816848" y="2403369"/>
            <a:ext cx="8164865" cy="44734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20000"/>
              </a:lnSpc>
            </a:pPr>
            <a:endParaRPr lang="es-CO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46" name="Picture 2" descr="Cross Industry Standard Process for Data Mining - Wikipedia, la  enciclopedia libre">
            <a:extLst>
              <a:ext uri="{FF2B5EF4-FFF2-40B4-BE49-F238E27FC236}">
                <a16:creationId xmlns:a16="http://schemas.microsoft.com/office/drawing/2014/main" id="{4E41547F-2B7B-4E86-9A17-AF4BAA572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2049" y="1896156"/>
            <a:ext cx="5167901" cy="5177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4627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419E-8ECE-447E-B9CD-50786F792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556" y="3013851"/>
            <a:ext cx="10585450" cy="1470914"/>
          </a:xfrm>
        </p:spPr>
        <p:txBody>
          <a:bodyPr>
            <a:normAutofit/>
          </a:bodyPr>
          <a:lstStyle/>
          <a:p>
            <a:r>
              <a:rPr lang="es-CO" sz="8335" b="1" dirty="0">
                <a:solidFill>
                  <a:schemeClr val="bg1"/>
                </a:solidFill>
                <a:latin typeface="+mn-lt"/>
                <a:cs typeface="Aharoni" panose="020B0604020202020204" pitchFamily="2" charset="-79"/>
              </a:rPr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componentes tecnológicos forman parte de una solución BI?</a:t>
            </a:r>
            <a:endParaRPr lang="es-CO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BAF41AC-2E13-0548-859B-D649B9363A3F}"/>
              </a:ext>
            </a:extLst>
          </p:cNvPr>
          <p:cNvSpPr txBox="1">
            <a:spLocks/>
          </p:cNvSpPr>
          <p:nvPr/>
        </p:nvSpPr>
        <p:spPr>
          <a:xfrm>
            <a:off x="1816848" y="5674718"/>
            <a:ext cx="9768596" cy="120207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20000"/>
              </a:lnSpc>
            </a:pPr>
            <a:endParaRPr lang="es-CO" sz="2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todas las organizaciones necesitan una plataforma compleja. Una empresa pequeña puede iniciar con archivos bien estructurados y </a:t>
            </a:r>
            <a:r>
              <a:rPr lang="es-ES" sz="2000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Una organización con numerosas fuentes, grandes volúmenes y requisitos de gobierno puede necesitar una arquitectura más robusta.</a:t>
            </a:r>
            <a:endParaRPr lang="es-CO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2" descr="Imagen generada 1">
            <a:extLst>
              <a:ext uri="{FF2B5EF4-FFF2-40B4-BE49-F238E27FC236}">
                <a16:creationId xmlns:a16="http://schemas.microsoft.com/office/drawing/2014/main" id="{B78734E0-E72A-4D0C-BEDB-F915FB965A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816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5D57949-5ACD-461B-ACCA-37ABA2236C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848" y="2037144"/>
            <a:ext cx="9249721" cy="342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394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419E-8ECE-447E-B9CD-50786F792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556" y="3013851"/>
            <a:ext cx="10585450" cy="1470914"/>
          </a:xfrm>
        </p:spPr>
        <p:txBody>
          <a:bodyPr>
            <a:normAutofit/>
          </a:bodyPr>
          <a:lstStyle/>
          <a:p>
            <a:r>
              <a:rPr lang="es-CO" sz="8335" b="1" dirty="0">
                <a:solidFill>
                  <a:schemeClr val="bg1"/>
                </a:solidFill>
                <a:latin typeface="+mn-lt"/>
                <a:cs typeface="Aharoni" panose="020B0604020202020204" pitchFamily="2" charset="-79"/>
              </a:rPr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 no es lo mismo que </a:t>
            </a:r>
            <a:r>
              <a:rPr lang="es-ES" sz="4000" b="1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lang="es-E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BI</a:t>
            </a:r>
            <a:endParaRPr lang="es-CO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BAF41AC-2E13-0548-859B-D649B9363A3F}"/>
              </a:ext>
            </a:extLst>
          </p:cNvPr>
          <p:cNvSpPr txBox="1">
            <a:spLocks/>
          </p:cNvSpPr>
          <p:nvPr/>
        </p:nvSpPr>
        <p:spPr>
          <a:xfrm>
            <a:off x="1816848" y="2248052"/>
            <a:ext cx="9768596" cy="40911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es-ES" sz="2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enfoque organizacional, procesos, prácticas y tecnologías para convertir datos en información que apoye decisiones.</a:t>
            </a:r>
          </a:p>
          <a:p>
            <a:pPr algn="just">
              <a:lnSpc>
                <a:spcPct val="120000"/>
              </a:lnSpc>
            </a:pPr>
            <a:endParaRPr lang="es-ES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s-ES" sz="2000" b="1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lang="es-ES" sz="2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BI</a:t>
            </a: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herramienta que puede utilizarse para conectar fuentes, transformar datos, modelarlos, analizarlos y presentar resultados.</a:t>
            </a:r>
          </a:p>
          <a:p>
            <a:pPr algn="just">
              <a:lnSpc>
                <a:spcPct val="120000"/>
              </a:lnSpc>
            </a:pPr>
            <a:endParaRPr lang="es-ES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s-ES" sz="2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ETL</a:t>
            </a: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proceso de extracción, transformación y carga de datos.</a:t>
            </a:r>
          </a:p>
          <a:p>
            <a:pPr algn="just">
              <a:lnSpc>
                <a:spcPct val="120000"/>
              </a:lnSpc>
            </a:pPr>
            <a:endParaRPr lang="es-ES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s-ES" sz="2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lenguaje utilizado para consultar y manipular datos en bases de datos relacionales.</a:t>
            </a:r>
            <a:endParaRPr lang="es-CO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6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419E-8ECE-447E-B9CD-50786F792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556" y="3013851"/>
            <a:ext cx="10585450" cy="1470914"/>
          </a:xfrm>
        </p:spPr>
        <p:txBody>
          <a:bodyPr>
            <a:normAutofit/>
          </a:bodyPr>
          <a:lstStyle/>
          <a:p>
            <a:r>
              <a:rPr lang="es-CO" sz="8335" b="1" dirty="0">
                <a:solidFill>
                  <a:schemeClr val="bg1"/>
                </a:solidFill>
                <a:latin typeface="+mn-lt"/>
                <a:cs typeface="Aharoni" panose="020B0604020202020204" pitchFamily="2" charset="-79"/>
              </a:rPr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Tipos de análisis que apoyan las decisiones</a:t>
            </a:r>
            <a:endParaRPr lang="es-CO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BAF41AC-2E13-0548-859B-D649B9363A3F}"/>
              </a:ext>
            </a:extLst>
          </p:cNvPr>
          <p:cNvSpPr txBox="1">
            <a:spLocks/>
          </p:cNvSpPr>
          <p:nvPr/>
        </p:nvSpPr>
        <p:spPr>
          <a:xfrm>
            <a:off x="1816847" y="2248052"/>
            <a:ext cx="9905965" cy="26732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forma útil de introducir la analítica consiste en presentar cuatro preguntas empresariales:</a:t>
            </a:r>
          </a:p>
          <a:p>
            <a:pPr algn="just">
              <a:lnSpc>
                <a:spcPct val="120000"/>
              </a:lnSpc>
            </a:pPr>
            <a:endParaRPr lang="es-ES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pasó?</a:t>
            </a:r>
          </a:p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¿por qué pudo pasar?</a:t>
            </a:r>
          </a:p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podría pasar?</a:t>
            </a:r>
          </a:p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convendría hacer?</a:t>
            </a:r>
            <a:endParaRPr lang="es-CO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BF22B25-C2E3-4FF3-8C16-44B7A1073F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571" y="4921321"/>
            <a:ext cx="7438490" cy="247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793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419E-8ECE-447E-B9CD-50786F792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556" y="3013851"/>
            <a:ext cx="10585450" cy="1470914"/>
          </a:xfrm>
        </p:spPr>
        <p:txBody>
          <a:bodyPr>
            <a:normAutofit/>
          </a:bodyPr>
          <a:lstStyle/>
          <a:p>
            <a:r>
              <a:rPr lang="es-CO" sz="8335" b="1" dirty="0">
                <a:solidFill>
                  <a:schemeClr val="bg1"/>
                </a:solidFill>
                <a:latin typeface="+mn-lt"/>
                <a:cs typeface="Aharoni" panose="020B0604020202020204" pitchFamily="2" charset="-79"/>
              </a:rPr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Tipos de análisis que apoyan las decisiones</a:t>
            </a:r>
            <a:endParaRPr lang="es-CO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2" descr="Imagen generada 1">
            <a:extLst>
              <a:ext uri="{FF2B5EF4-FFF2-40B4-BE49-F238E27FC236}">
                <a16:creationId xmlns:a16="http://schemas.microsoft.com/office/drawing/2014/main" id="{B78734E0-E72A-4D0C-BEDB-F915FB965A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816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2D3EEC6-DA0E-4301-87E9-910EBFF61A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200" y="2032813"/>
            <a:ext cx="9807806" cy="490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066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76833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{CF0F9634-8749-4249-B963-57A84D4DCE3B}tf10001076</Template>
  <TotalTime>725</TotalTime>
  <Words>1278</Words>
  <Application>Microsoft Office PowerPoint</Application>
  <PresentationFormat>Personalizado</PresentationFormat>
  <Paragraphs>133</Paragraphs>
  <Slides>22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Wingdings</vt:lpstr>
      <vt:lpstr>Tema de Office</vt:lpstr>
      <vt:lpstr>Presentación de PowerPoint</vt:lpstr>
      <vt:lpstr>INTELIGENCIA DE NEGOCIOS</vt:lpstr>
      <vt:lpstr>Presentación de PowerPoint</vt:lpstr>
      <vt:lpstr>TÍTULO</vt:lpstr>
      <vt:lpstr>TÍTULO</vt:lpstr>
      <vt:lpstr>TÍTULO</vt:lpstr>
      <vt:lpstr>TÍTULO</vt:lpstr>
      <vt:lpstr>TÍTULO</vt:lpstr>
      <vt:lpstr>TÍTULO</vt:lpstr>
      <vt:lpstr>TÍTULO</vt:lpstr>
      <vt:lpstr>TÍTULO</vt:lpstr>
      <vt:lpstr>TÍTULO</vt:lpstr>
      <vt:lpstr>TÍTULO</vt:lpstr>
      <vt:lpstr>TÍTULO</vt:lpstr>
      <vt:lpstr>TÍTULO</vt:lpstr>
      <vt:lpstr>TÍTULO</vt:lpstr>
      <vt:lpstr>TÍTULO</vt:lpstr>
      <vt:lpstr>TÍTULO</vt:lpstr>
      <vt:lpstr>TÍTULO</vt:lpstr>
      <vt:lpstr>TÍTULO</vt:lpstr>
      <vt:lpstr>TÍTULO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Oscar</dc:creator>
  <cp:lastModifiedBy>Luis Emiro Mosquera Sánchez</cp:lastModifiedBy>
  <cp:revision>38</cp:revision>
  <dcterms:created xsi:type="dcterms:W3CDTF">2019-03-06T14:49:26Z</dcterms:created>
  <dcterms:modified xsi:type="dcterms:W3CDTF">2026-10-16T21:18:54Z</dcterms:modified>
</cp:coreProperties>
</file>